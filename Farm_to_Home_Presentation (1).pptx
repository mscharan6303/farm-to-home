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9658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5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1F5C3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1072865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Farm to Home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BFE3CE"/>
                </a:solidFill>
              </a:rPr>
              <a:t>Avishkarna Andhra Internship Mini Project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4023360"/>
            <a:ext cx="94484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</a:rPr>
              <a:t>A full-stack e-commerce web application connecting local farmers directly with consumers.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6217920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 &amp; Objective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94415" cy="2011680"/>
          </a:xfrm>
          <a:prstGeom prst="roundRect">
            <a:avLst>
              <a:gd name="adj" fmla="val 4545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783080"/>
            <a:ext cx="10362895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F5C3F"/>
                </a:solidFill>
              </a:rPr>
              <a:t>The Problem: </a:t>
            </a:r>
            <a:r>
              <a:rPr lang="en-US" sz="1700" dirty="0">
                <a:solidFill>
                  <a:srgbClr val="1F2937"/>
                </a:solidFill>
              </a:rPr>
              <a:t>Farmers often struggle with middlemen reducing their profits, while consumers face a lack of transparency and direct access to high-quality, fresh agricultural produce.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3840480"/>
            <a:ext cx="11094415" cy="2194560"/>
          </a:xfrm>
          <a:prstGeom prst="roundRect">
            <a:avLst>
              <a:gd name="adj" fmla="val 4167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069080"/>
            <a:ext cx="10362895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F5C3F"/>
                </a:solidFill>
              </a:rPr>
              <a:t>The Objective: </a:t>
            </a:r>
            <a:r>
              <a:rPr lang="en-US" sz="1700" dirty="0">
                <a:solidFill>
                  <a:srgbClr val="1F2937"/>
                </a:solidFill>
              </a:rPr>
              <a:t>To develop a direct-to-consumer digital marketplace that eliminates middlemen, ensures fair pricing for farmers, and provides consumers with an easy way to purchase fresh, organic produce straight from the source.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64305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Features: Consumer (Buyer)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54480"/>
            <a:ext cx="1036289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5C3F"/>
                </a:solidFill>
              </a:rPr>
              <a:t>Smart Marketplace: </a:t>
            </a:r>
            <a:r>
              <a:rPr lang="en-US" sz="1600" dirty="0">
                <a:solidFill>
                  <a:srgbClr val="1F2937"/>
                </a:solidFill>
              </a:rPr>
              <a:t>Browse, filter, and search for fresh produce by category.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834640"/>
            <a:ext cx="1036289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5C3F"/>
                </a:solidFill>
              </a:rPr>
              <a:t>FarmPass Subscriptions: </a:t>
            </a:r>
            <a:r>
              <a:rPr lang="en-US" sz="1600" dirty="0">
                <a:solidFill>
                  <a:srgbClr val="1F2937"/>
                </a:solidFill>
              </a:rPr>
              <a:t>Premium membership for zero delivery fees and exclusive discounts.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411480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114800"/>
            <a:ext cx="1036289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5C3F"/>
                </a:solidFill>
              </a:rPr>
              <a:t>Real-Time Direct Chat: </a:t>
            </a:r>
            <a:r>
              <a:rPr lang="en-US" sz="1600" dirty="0">
                <a:solidFill>
                  <a:srgbClr val="1F2937"/>
                </a:solidFill>
              </a:rPr>
              <a:t>Communicate directly with farmers about produce freshness via Socket.io.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539496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5394960"/>
            <a:ext cx="1036289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5C3F"/>
                </a:solidFill>
              </a:rPr>
              <a:t>Dynamic Checkout: </a:t>
            </a:r>
            <a:r>
              <a:rPr lang="en-US" sz="1600" dirty="0">
                <a:solidFill>
                  <a:srgbClr val="1F2937"/>
                </a:solidFill>
              </a:rPr>
              <a:t>Multi-step checkout with real-time cart subtotal and delivery calculations.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64305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Features: Farmer (Seller)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54480"/>
            <a:ext cx="1036289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5C3F"/>
                </a:solidFill>
              </a:rPr>
              <a:t>Dedicated Dashboard: </a:t>
            </a:r>
            <a:r>
              <a:rPr lang="en-US" sz="1600" dirty="0">
                <a:solidFill>
                  <a:srgbClr val="1F2937"/>
                </a:solidFill>
              </a:rPr>
              <a:t>High-level overview of total earnings, pending orders, and product count.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834640"/>
            <a:ext cx="1036289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5C3F"/>
                </a:solidFill>
              </a:rPr>
              <a:t>Inventory Management: </a:t>
            </a:r>
            <a:r>
              <a:rPr lang="en-US" sz="1600" dirty="0">
                <a:solidFill>
                  <a:srgbClr val="1F2937"/>
                </a:solidFill>
              </a:rPr>
              <a:t>Full CRUD capabilities to manage products, pricing, and stock.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411480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114800"/>
            <a:ext cx="1036289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5C3F"/>
                </a:solidFill>
              </a:rPr>
              <a:t>Order Processing System: </a:t>
            </a:r>
            <a:r>
              <a:rPr lang="en-US" sz="1600" dirty="0">
                <a:solidFill>
                  <a:srgbClr val="1F2937"/>
                </a:solidFill>
              </a:rPr>
              <a:t>Seamlessly update order fulfillment status (Pending → Processing → Delivered).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539496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5394960"/>
            <a:ext cx="1036289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5C3F"/>
                </a:solidFill>
              </a:rPr>
              <a:t>Profile Management: </a:t>
            </a:r>
            <a:r>
              <a:rPr lang="en-US" sz="1600" dirty="0">
                <a:solidFill>
                  <a:srgbClr val="1F2937"/>
                </a:solidFill>
              </a:rPr>
              <a:t>Build trust by maintaining a public profile showcasing farming practices.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64305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 &amp;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896112"/>
          </a:xfrm>
          <a:prstGeom prst="roundRect">
            <a:avLst>
              <a:gd name="adj" fmla="val 8163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17320"/>
            <a:ext cx="10362895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F5C3F"/>
                </a:solidFill>
              </a:rPr>
              <a:t>Frontend: </a:t>
            </a:r>
            <a:r>
              <a:rPr lang="en-US" sz="1500" dirty="0">
                <a:solidFill>
                  <a:srgbClr val="1F2937"/>
                </a:solidFill>
              </a:rPr>
              <a:t>React.js &amp; Vite with responsive, Mobile-First Custom Vanilla CSS.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78024"/>
            <a:ext cx="11094415" cy="896112"/>
          </a:xfrm>
          <a:prstGeom prst="roundRect">
            <a:avLst>
              <a:gd name="adj" fmla="val 8163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478024"/>
            <a:ext cx="10362895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F5C3F"/>
                </a:solidFill>
              </a:rPr>
              <a:t>Backend: </a:t>
            </a:r>
            <a:r>
              <a:rPr lang="en-US" sz="1500" dirty="0">
                <a:solidFill>
                  <a:srgbClr val="1F2937"/>
                </a:solidFill>
              </a:rPr>
              <a:t>Node.js &amp; Express.js (RESTful APIs).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538728"/>
            <a:ext cx="11094415" cy="896112"/>
          </a:xfrm>
          <a:prstGeom prst="roundRect">
            <a:avLst>
              <a:gd name="adj" fmla="val 8163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538728"/>
            <a:ext cx="10362895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F5C3F"/>
                </a:solidFill>
              </a:rPr>
              <a:t>Database: </a:t>
            </a:r>
            <a:r>
              <a:rPr lang="en-US" sz="1500" dirty="0">
                <a:solidFill>
                  <a:srgbClr val="1F2937"/>
                </a:solidFill>
              </a:rPr>
              <a:t>MongoDB &amp; Mongoose.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599432"/>
            <a:ext cx="11094415" cy="896112"/>
          </a:xfrm>
          <a:prstGeom prst="roundRect">
            <a:avLst>
              <a:gd name="adj" fmla="val 8163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599432"/>
            <a:ext cx="10362895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F5C3F"/>
                </a:solidFill>
              </a:rPr>
              <a:t>Authentication: </a:t>
            </a:r>
            <a:r>
              <a:rPr lang="en-US" sz="1500" dirty="0">
                <a:solidFill>
                  <a:srgbClr val="1F2937"/>
                </a:solidFill>
              </a:rPr>
              <a:t>JSON Web Tokens (JWT) with strict Role-Based Access Control (RBAC).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5660136"/>
            <a:ext cx="11094415" cy="896112"/>
          </a:xfrm>
          <a:prstGeom prst="roundRect">
            <a:avLst>
              <a:gd name="adj" fmla="val 8163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5660136"/>
            <a:ext cx="10362895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F5C3F"/>
                </a:solidFill>
              </a:rPr>
              <a:t>Real-Time &amp; Cloud: </a:t>
            </a:r>
            <a:r>
              <a:rPr lang="en-US" sz="1500" dirty="0">
                <a:solidFill>
                  <a:srgbClr val="1F2937"/>
                </a:solidFill>
              </a:rPr>
              <a:t>Socket.io for live chat and Cloudinary for secure, scalable image uploads.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64305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 / How We Built 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10048" cy="1920240"/>
          </a:xfrm>
          <a:prstGeom prst="roundRect">
            <a:avLst>
              <a:gd name="adj" fmla="val 3810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00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5C3F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504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Phase 1 (Design)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50442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5555"/>
                </a:solidFill>
              </a:rPr>
              <a:t>Created the UI/UX with a mobile-first approach and designed the MongoDB schemas for Users, Products, and Orders.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33008" y="1463040"/>
            <a:ext cx="5410048" cy="1920240"/>
          </a:xfrm>
          <a:prstGeom prst="roundRect">
            <a:avLst>
              <a:gd name="adj" fmla="val 3810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15888" y="1600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5C3F"/>
                </a:solidFill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15888" y="2057400"/>
            <a:ext cx="504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Phase 2 (Backend)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15888" y="2423160"/>
            <a:ext cx="50442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5555"/>
                </a:solidFill>
              </a:rPr>
              <a:t>Developed secure RESTful APIs, set up JWT-based dual-role authentication, and configured Cloudinary for media.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11880"/>
            <a:ext cx="5410048" cy="1920240"/>
          </a:xfrm>
          <a:prstGeom prst="roundRect">
            <a:avLst>
              <a:gd name="adj" fmla="val 3810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7490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5C3F"/>
                </a:solidFill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" y="4206240"/>
            <a:ext cx="504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Phase 3 (Frontend)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4572000"/>
            <a:ext cx="50442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5555"/>
                </a:solidFill>
              </a:rPr>
              <a:t>Built responsive React components, integrated state management, and connected to backend endpoints.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33008" y="3611880"/>
            <a:ext cx="5410048" cy="1920240"/>
          </a:xfrm>
          <a:prstGeom prst="roundRect">
            <a:avLst>
              <a:gd name="adj" fmla="val 3810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5888" y="37490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5C3F"/>
                </a:solidFill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15888" y="4206240"/>
            <a:ext cx="504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Phase 4 (Advanced Integration)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15888" y="4572000"/>
            <a:ext cx="50442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5555"/>
                </a:solidFill>
              </a:rPr>
              <a:t>Deployed WebSocket (Socket.io) for real-time messaging and implemented the dynamic FarmPass subscription logic.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64305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Future Scope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663440"/>
          </a:xfrm>
          <a:prstGeom prst="roundRect">
            <a:avLst>
              <a:gd name="adj" fmla="val 1961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645920"/>
            <a:ext cx="4907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5C3F"/>
                </a:solidFill>
              </a:rPr>
              <a:t>Challenges Faced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77240" y="2194560"/>
            <a:ext cx="490712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Strict Dual-Role Access Control and routing (Farmer vs Consumer).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Managing real-time WebSocket state connections cleanly on the frontend.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Designing a highly responsive UI without relying on heavy CSS frameworks.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663440"/>
          </a:xfrm>
          <a:prstGeom prst="roundRect">
            <a:avLst>
              <a:gd name="adj" fmla="val 1961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07328" y="1645920"/>
            <a:ext cx="4907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5C3F"/>
                </a:solidFill>
              </a:rPr>
              <a:t>Future Scope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507328" y="2194560"/>
            <a:ext cx="490712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Integration of external payment gateways (Stripe/Razorpay).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AI-driven price prediction and demand forecasting.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Logistics and third-party delivery partner integration.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64305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Home Page</a:t>
            </a:r>
            <a:endParaRPr lang="en-US" sz="2800" dirty="0"/>
          </a:p>
        </p:txBody>
      </p:sp>
      <p:pic>
        <p:nvPicPr>
          <p:cNvPr id="3" name="Image 0" descr="/home/claude/ftm/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1128" y="1051560"/>
            <a:ext cx="6949440" cy="4343400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1005840" y="5669280"/>
            <a:ext cx="1018001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F5C3F"/>
                </a:solidFill>
              </a:rPr>
              <a:t>Explanation: </a:t>
            </a:r>
            <a:r>
              <a:rPr lang="en-US" sz="1400" dirty="0">
                <a:solidFill>
                  <a:srgbClr val="555555"/>
                </a:solidFill>
              </a:rPr>
              <a:t>The welcoming storefront featuring a modern hero-banner. Highlights the core value proposition and displays featured products to immediately engage users.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164305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Products Marketplace</a:t>
            </a:r>
            <a:endParaRPr lang="en-US" sz="2800" dirty="0"/>
          </a:p>
        </p:txBody>
      </p:sp>
      <p:pic>
        <p:nvPicPr>
          <p:cNvPr id="3" name="Image 0" descr="/home/claude/ftm/produc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1128" y="1051560"/>
            <a:ext cx="6949440" cy="4343400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1005840" y="5669280"/>
            <a:ext cx="1018001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F5C3F"/>
                </a:solidFill>
              </a:rPr>
              <a:t>Explanation: </a:t>
            </a:r>
            <a:r>
              <a:rPr lang="en-US" sz="1400" dirty="0">
                <a:solidFill>
                  <a:srgbClr val="555555"/>
                </a:solidFill>
              </a:rPr>
              <a:t>The primary shopping interface for consumers. Presents a responsive grid layout of fresh produce with filtering by category and search functionality.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164305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Secure Authentication</a:t>
            </a:r>
            <a:endParaRPr lang="en-US" sz="2800" dirty="0"/>
          </a:p>
        </p:txBody>
      </p:sp>
      <p:pic>
        <p:nvPicPr>
          <p:cNvPr id="3" name="Image 0" descr="/home/claude/ftm/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1128" y="1051560"/>
            <a:ext cx="6949440" cy="4343400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1005840" y="5669280"/>
            <a:ext cx="1018001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F5C3F"/>
                </a:solidFill>
              </a:rPr>
              <a:t>Explanation: </a:t>
            </a:r>
            <a:r>
              <a:rPr lang="en-US" sz="1400" dirty="0">
                <a:solidFill>
                  <a:srgbClr val="555555"/>
                </a:solidFill>
              </a:rPr>
              <a:t>A dual-role authentication portal where users specify if they are a "Consumer" or "Farmer". Powered by JWT token encryption ensuring data security.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164305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Farmer Dashboard</a:t>
            </a:r>
            <a:endParaRPr lang="en-US" sz="2800" dirty="0"/>
          </a:p>
        </p:txBody>
      </p:sp>
      <p:pic>
        <p:nvPicPr>
          <p:cNvPr id="3" name="Image 0" descr="/home/claude/ftm/farmer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1128" y="1051560"/>
            <a:ext cx="6949440" cy="4343400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1005840" y="5669280"/>
            <a:ext cx="1018001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F5C3F"/>
                </a:solidFill>
              </a:rPr>
              <a:t>Explanation: </a:t>
            </a:r>
            <a:r>
              <a:rPr lang="en-US" sz="1400" dirty="0">
                <a:solidFill>
                  <a:srgbClr val="555555"/>
                </a:solidFill>
              </a:rPr>
              <a:t>A secure management panel for verified farmers to track earnings, fulfill orders, and seamlessly manage product inventory.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164305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FarmPass &amp; Subscriptions</a:t>
            </a:r>
            <a:endParaRPr lang="en-US" sz="2800" dirty="0"/>
          </a:p>
        </p:txBody>
      </p:sp>
      <p:pic>
        <p:nvPicPr>
          <p:cNvPr id="3" name="Image 0" descr="/home/claude/ftm/subscrip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1128" y="1051560"/>
            <a:ext cx="6949440" cy="4343400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1005840" y="5669280"/>
            <a:ext cx="1018001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F5C3F"/>
                </a:solidFill>
              </a:rPr>
              <a:t>Explanation: </a:t>
            </a:r>
            <a:r>
              <a:rPr lang="en-US" sz="1400" dirty="0">
                <a:solidFill>
                  <a:srgbClr val="555555"/>
                </a:solidFill>
              </a:rPr>
              <a:t>A dedicated section allowing users to manage premium features like FarmPass for zero delivery fees and recurring essential deliveries.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164305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 Dynamic Cart &amp; Checkout</a:t>
            </a:r>
            <a:endParaRPr lang="en-US" sz="2800" dirty="0"/>
          </a:p>
        </p:txBody>
      </p:sp>
      <p:pic>
        <p:nvPicPr>
          <p:cNvPr id="3" name="Image 0" descr="/home/claude/ftm/c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1128" y="1051560"/>
            <a:ext cx="6949440" cy="4343400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1005840" y="5669280"/>
            <a:ext cx="1018001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F5C3F"/>
                </a:solidFill>
              </a:rPr>
              <a:t>Explanation: </a:t>
            </a:r>
            <a:r>
              <a:rPr lang="en-US" sz="1400" dirty="0">
                <a:solidFill>
                  <a:srgbClr val="555555"/>
                </a:solidFill>
              </a:rPr>
              <a:t>A seamless shopping cart that automatically calculates subtotals, applies FarmPass discounts, and computes delivery fees before checkout.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164305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 Real-Time Chat</a:t>
            </a:r>
            <a:endParaRPr lang="en-US" sz="2800" dirty="0"/>
          </a:p>
        </p:txBody>
      </p:sp>
      <p:pic>
        <p:nvPicPr>
          <p:cNvPr id="3" name="Image 0" descr="/home/claude/ftm/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1128" y="1051560"/>
            <a:ext cx="6949440" cy="4343400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1005840" y="5669280"/>
            <a:ext cx="1018001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F5C3F"/>
                </a:solidFill>
              </a:rPr>
              <a:t>Explanation: </a:t>
            </a:r>
            <a:r>
              <a:rPr lang="en-US" sz="1400" dirty="0">
                <a:solidFill>
                  <a:srgbClr val="555555"/>
                </a:solidFill>
              </a:rPr>
              <a:t>A Socket.io-powered messaging system enabling direct communication between consumers and farmers to ask about product freshness or delivery.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164305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5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3566160"/>
            <a:ext cx="107286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BFE3CE"/>
                </a:solidFill>
              </a:rPr>
              <a:t>Any 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695</Words>
  <Application>Microsoft Office PowerPoint</Application>
  <PresentationFormat>Widescreen</PresentationFormat>
  <Paragraphs>88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Sai Charan Mannepalli</cp:lastModifiedBy>
  <cp:revision>2</cp:revision>
  <dcterms:created xsi:type="dcterms:W3CDTF">2026-07-16T15:15:45Z</dcterms:created>
  <dcterms:modified xsi:type="dcterms:W3CDTF">2026-07-16T15:17:21Z</dcterms:modified>
</cp:coreProperties>
</file>